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6256000" cy="9144000"/>
  <p:notesSz cx="9144000" cy="16256000"/>
  <p:embeddedFontLst>
    <p:embeddedFont>
      <p:font typeface="Quattrocento Sans" charset="-122" pitchFamily="34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000" y="2921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0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RTC 实时通信核心技术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0" y="3937000"/>
            <a:ext cx="2540000" cy="381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4" name="Text 2"/>
          <p:cNvSpPr/>
          <p:nvPr/>
        </p:nvSpPr>
        <p:spPr>
          <a:xfrm>
            <a:off x="2413000" y="419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DEA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体系设计与行业演进分析 | 课堂教学版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8000" y="508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基于《RTC 实时通信核心技术、体系设计与行业演进分析报告》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课程导航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219200"/>
            <a:ext cx="508000" cy="508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4572000" cy="2286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685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667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核心概念与端到端链路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175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时延、抖动、同步、QoS/QoE 与端到端链路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42000" y="1778000"/>
            <a:ext cx="4572000" cy="2286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0" y="19685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0" y="2667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协议栈全景与 NAT 穿透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0" y="3175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RTP/RTCP/SRTP、ICE/STUN/TURN、DTLS 分层架构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22000" y="1778000"/>
            <a:ext cx="4572000" cy="2286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13" name="Text 11"/>
          <p:cNvSpPr/>
          <p:nvPr/>
        </p:nvSpPr>
        <p:spPr>
          <a:xfrm>
            <a:off x="11176000" y="19685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76000" y="2667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架构选型对比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76000" y="3175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P2P Mesh、SFU、MCU、混合式架构特征与选型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572000"/>
            <a:ext cx="4572000" cy="2286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7625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5461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编解码与性能优化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969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Opus、H.264、VP9、AV1 与五大工程优化策略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42000" y="4572000"/>
            <a:ext cx="4572000" cy="2286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21" name="Text 19"/>
          <p:cNvSpPr/>
          <p:nvPr/>
        </p:nvSpPr>
        <p:spPr>
          <a:xfrm>
            <a:off x="6096000" y="47625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0" y="5461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安全隐私与部署观测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0" y="5969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SRTP/DTLS/SFrame、部署模式与 getStats 观测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22000" y="4572000"/>
            <a:ext cx="4572000" cy="2286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25" name="Text 23"/>
          <p:cNvSpPr/>
          <p:nvPr/>
        </p:nvSpPr>
        <p:spPr>
          <a:xfrm>
            <a:off x="11176000" y="4762500"/>
            <a:ext cx="101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76000" y="5461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行业演进与研究前沿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76000" y="5969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标准演进时间线与 AI RTC、XR、卫星网络前沿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RTC 实时通信核心技术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0" y="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核心概念与端到端链路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RTC 核心概念与端到端链路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2000" y="139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四大第一性原理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1905000"/>
            <a:ext cx="6858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47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时延（Latency）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端到端感知的总时间，由采集、预处理、编码、发送队列、网络传播、抖动缓冲、解码和渲染共同组成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C47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抖动（Jitter）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分组到达间隔的波动，RTP/RTCP 用 interarrival jitter 近似描述，RFC 3550 给出连续估计公式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C47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同步（Synchronization）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依赖 RTP 时间戳与 NTP 映射，以及 RTCP SDES CNAME 进行跨媒体绑定，支撑口型同步和多流对齐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C470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QoS / QoE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网络转发质量 vs 用户体验质量，公网环境下两者不等价，必须依靠应用层自适应策略换取感知质量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8000" y="139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端到端链路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0" y="1968500"/>
            <a:ext cx="2286000" cy="558800"/>
          </a:xfrm>
          <a:prstGeom prst="roundRect">
            <a:avLst>
              <a:gd name="adj" fmla="val 8000"/>
            </a:avLst>
          </a:prstGeom>
          <a:solidFill>
            <a:srgbClr val="2D3A5C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1968500"/>
            <a:ext cx="228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采集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779000" y="2527300"/>
            <a:ext cx="0" cy="254000"/>
          </a:xfrm>
          <a:prstGeom prst="straightConnector1">
            <a:avLst/>
          </a:prstGeom>
          <a:noFill/>
          <a:ln w="25400">
            <a:solidFill>
              <a:srgbClr val="6B7B9E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8636000" y="2781300"/>
            <a:ext cx="2286000" cy="558800"/>
          </a:xfrm>
          <a:prstGeom prst="roundRect">
            <a:avLst>
              <a:gd name="adj" fmla="val 8000"/>
            </a:avLst>
          </a:prstGeom>
          <a:solidFill>
            <a:srgbClr val="2D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2781300"/>
            <a:ext cx="228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79000" y="3340100"/>
            <a:ext cx="0" cy="254000"/>
          </a:xfrm>
          <a:prstGeom prst="straightConnector1">
            <a:avLst/>
          </a:prstGeom>
          <a:noFill/>
          <a:ln w="25400">
            <a:solidFill>
              <a:srgbClr val="6B7B9E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636000" y="3594100"/>
            <a:ext cx="2286000" cy="558800"/>
          </a:xfrm>
          <a:prstGeom prst="roundRect">
            <a:avLst>
              <a:gd name="adj" fmla="val 8000"/>
            </a:avLst>
          </a:prstGeom>
          <a:solidFill>
            <a:srgbClr val="2D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8636000" y="3594100"/>
            <a:ext cx="228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发送队列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79000" y="4152900"/>
            <a:ext cx="0" cy="254000"/>
          </a:xfrm>
          <a:prstGeom prst="straightConnector1">
            <a:avLst/>
          </a:prstGeom>
          <a:noFill/>
          <a:ln w="25400">
            <a:solidFill>
              <a:srgbClr val="6B7B9E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636000" y="4406900"/>
            <a:ext cx="2286000" cy="558800"/>
          </a:xfrm>
          <a:prstGeom prst="roundRect">
            <a:avLst>
              <a:gd name="adj" fmla="val 8000"/>
            </a:avLst>
          </a:prstGeom>
          <a:solidFill>
            <a:srgbClr val="C470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36000" y="4406900"/>
            <a:ext cx="228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网络传播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779000" y="4965700"/>
            <a:ext cx="0" cy="254000"/>
          </a:xfrm>
          <a:prstGeom prst="straightConnector1">
            <a:avLst/>
          </a:prstGeom>
          <a:noFill/>
          <a:ln w="25400">
            <a:solidFill>
              <a:srgbClr val="6B7B9E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8636000" y="5219700"/>
            <a:ext cx="2286000" cy="558800"/>
          </a:xfrm>
          <a:prstGeom prst="roundRect">
            <a:avLst>
              <a:gd name="adj" fmla="val 8000"/>
            </a:avLst>
          </a:prstGeom>
          <a:solidFill>
            <a:srgbClr val="2D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5219700"/>
            <a:ext cx="228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抖动缓冲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779000" y="5778500"/>
            <a:ext cx="0" cy="254000"/>
          </a:xfrm>
          <a:prstGeom prst="straightConnector1">
            <a:avLst/>
          </a:prstGeom>
          <a:noFill/>
          <a:ln w="25400">
            <a:solidFill>
              <a:srgbClr val="6B7B9E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8636000" y="6032500"/>
            <a:ext cx="2286000" cy="558800"/>
          </a:xfrm>
          <a:prstGeom prst="roundRect">
            <a:avLst>
              <a:gd name="adj" fmla="val 8000"/>
            </a:avLst>
          </a:prstGeom>
          <a:solidFill>
            <a:srgbClr val="2D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0" y="6032500"/>
            <a:ext cx="228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解码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79000" y="6591300"/>
            <a:ext cx="0" cy="254000"/>
          </a:xfrm>
          <a:prstGeom prst="straightConnector1">
            <a:avLst/>
          </a:prstGeom>
          <a:noFill/>
          <a:ln w="25400">
            <a:solidFill>
              <a:srgbClr val="6B7B9E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8636000" y="6845300"/>
            <a:ext cx="2286000" cy="558800"/>
          </a:xfrm>
          <a:prstGeom prst="roundRect">
            <a:avLst>
              <a:gd name="adj" fmla="val 8000"/>
            </a:avLst>
          </a:prstGeom>
          <a:solidFill>
            <a:srgbClr val="2D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8636000" y="6845300"/>
            <a:ext cx="228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渲染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30000" y="1968500"/>
            <a:ext cx="381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关键洞察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RTC 不是单一协议问题，而是"采集—编码—传输—解码—渲染—反馈控制"的系统工程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真正的难点已从"协议互通"转向"跨网络条件下的实时多目标优化"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浏览器 Media Capture 规范已将回声消除、AGC、噪声抑制等公开为约束项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RTC 实时通信核心技术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0" y="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协议栈全景与 NAT 穿透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协议栈全景与 NAT 穿透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2000" y="1397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RTC 协议栈层次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1841500"/>
            <a:ext cx="4318000" cy="5842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1841500"/>
            <a:ext cx="4318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应用层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信令 / SDP / ICE 信息交换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489200"/>
            <a:ext cx="4318000" cy="5842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489200"/>
            <a:ext cx="4318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ICE 层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STUN / TURN / Candidate 选优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136900"/>
            <a:ext cx="4318000" cy="584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3136900"/>
            <a:ext cx="4318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DTLS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安全握手 / SRTP 密钥导出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784600"/>
            <a:ext cx="4318000" cy="5842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784600"/>
            <a:ext cx="4318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SRTP/RTP/RTCP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媒体数据 / 质量反馈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432300"/>
            <a:ext cx="4318000" cy="5842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432300"/>
            <a:ext cx="4318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SCTP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DataChannel 数据通道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921000" y="5080000"/>
            <a:ext cx="0" cy="381000"/>
          </a:xfrm>
          <a:prstGeom prst="straightConnector1">
            <a:avLst/>
          </a:prstGeom>
          <a:noFill/>
          <a:ln w="25400">
            <a:solidFill>
              <a:srgbClr val="6B7B9E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762000" y="5588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不是"一个新传输协议"，而是把现有协议组合成浏览器可用、可互通、可安全部署的一整套规范栈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42000" y="139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信令 vs NAT 穿透：本质区别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42000" y="1905000"/>
            <a:ext cx="4572000" cy="2032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22" name="Text 20"/>
          <p:cNvSpPr/>
          <p:nvPr/>
        </p:nvSpPr>
        <p:spPr>
          <a:xfrm>
            <a:off x="6096000" y="2032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信令（Signaling）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0" y="2476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交换会话描述（SDP）和控制消息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WebRTC 明确把信令交给应用自定义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JSEP 规定 JS 如何驱动 Offer/Answer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42000" y="4191000"/>
            <a:ext cx="4572000" cy="2159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25" name="Text 23"/>
          <p:cNvSpPr/>
          <p:nvPr/>
        </p:nvSpPr>
        <p:spPr>
          <a:xfrm>
            <a:off x="6096000" y="4318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 穿透（ICE）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96000" y="4762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ICE 收集和选择 candidate 路径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STUN 产生反射地址并探测连通性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TURN 在直连失败时提供中继回退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Trickle ICE 边收集边检查缩短时延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22000" y="1397000"/>
          <a:ext cx="4572000" cy="48260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371600"/>
              </a:tblGrid>
              <a:tr h="58114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协议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层次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核心作用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10612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RTP/RTCP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媒体承载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实时媒体包与时间戳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12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SRTP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安全媒体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机密性、认证、重放保护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10612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连接建立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NAT 穿透与路径选优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12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DTLS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安全握手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导出 SRTP 密钥材料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参考：RFC 3550, RFC 3711, RFC 8445, RFC 9429 (JSEP), RFC 8838 (Trickle ICE)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RTC 实时通信核心技术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0" y="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架构选型：P2P / SFU / MCU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架构选型：P2P / SFU / MCU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6604000"/>
        </p:xfrm>
        <a:graphic>
          <a:graphicData uri="http://schemas.openxmlformats.org/drawingml/2006/table">
            <a:tbl>
              <a:tblPr/>
              <a:tblGrid>
                <a:gridCol w="1767840"/>
                <a:gridCol w="4419600"/>
                <a:gridCol w="4419600"/>
                <a:gridCol w="4124960"/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架构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核心特征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优点 vs 局限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典型场景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14859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P2P Mesh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不需要媒体服务器；每个节点直接向其他节点发送媒体流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优点：1对1延迟最低，隐私边界清晰，成本最低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局限：多方时上行带宽随人数倍增，难统一录制和策略控制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1对1通话、少量节点协作、局域网原型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859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SFU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发送端只上传一份或少量分层流；服务器转发而不混流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优点：支持订阅裁剪、simulcast/SVC、录制观测，扩展性最好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局限：服务端仍需处理 NACK/PLI、带宽估计、跨区路由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视频会议、在线教育、互动直播、AI 实时房间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14859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MCU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服务端将多路流混音混视频后，输出单路合成流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优点：接收端只看单路流，弱终端易接入，统一录制简单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局限：混流转码成本高，增加处理时延，灵活性差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传统会议系统、SIP/PSTN 网关、固定布局输出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859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混合式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控制面中心化、媒体面边缘化；兼顾全球接入与集中治理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优点：低时延与可治理的最佳折中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局限：架构和运维最复杂，跨区域调度一致性要求高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全球化产品、直播+会议融合、边缘媒体+中心 AI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8128000"/>
            <a:ext cx="14732000" cy="508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8128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工程结论：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多方会议的主流架构已明确偏向 SFU —— 它避免 MCU 的高算力开销，又比 P2P 更容易控制上行带宽和订阅策略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参考：LiveKit、Twilio、Jitsi、mediasoup 等开源与商业平台架构文档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RTC 实时通信核心技术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0" y="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编解码与性能优化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编解码策略与性能优化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2000" y="139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主流编解码器对比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6858000" cy="4318000"/>
        </p:xfrm>
        <a:graphic>
          <a:graphicData uri="http://schemas.openxmlformats.org/drawingml/2006/table">
            <a:tbl>
              <a:tblPr/>
              <a:tblGrid>
                <a:gridCol w="1234440"/>
                <a:gridCol w="822960"/>
                <a:gridCol w="2400300"/>
                <a:gridCol w="2400300"/>
              </a:tblGrid>
              <a:tr h="51917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编解码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类型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核心优势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适用场景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94970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音频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语音/音乐兼顾，低码率质量好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会议、直播连麦（事实标准）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970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H.264 CB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视频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互通性强，硬件支持广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企业会议、移动端兼容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94970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VP9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视频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更高压缩效率，适合分层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大型会议、高清屏幕共享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970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AV1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视频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最高压缩效率，屏幕共享优势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新一代会议、低带宽优化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2000" y="6350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最低互通基线：VP8 + H.264 Constrained Baseline（视频），Opus + G.711（音频）。AV1/VP9 因更高压缩效率越来越重要，但更吃 CPU 与功耗。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28000" y="139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五大工程优化策略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28000" y="1841500"/>
            <a:ext cx="7366000" cy="635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12" name="Shape 9"/>
          <p:cNvSpPr/>
          <p:nvPr/>
        </p:nvSpPr>
        <p:spPr>
          <a:xfrm>
            <a:off x="8128000" y="1841500"/>
            <a:ext cx="508000" cy="6350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13" name="Text 10"/>
          <p:cNvSpPr/>
          <p:nvPr/>
        </p:nvSpPr>
        <p:spPr>
          <a:xfrm>
            <a:off x="8128000" y="18415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763000" y="1841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路径与编码自适应优先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：先保音频连续与关键画面稳定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28000" y="2603500"/>
            <a:ext cx="7366000" cy="635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16" name="Shape 13"/>
          <p:cNvSpPr/>
          <p:nvPr/>
        </p:nvSpPr>
        <p:spPr>
          <a:xfrm>
            <a:off x="8128000" y="2603500"/>
            <a:ext cx="508000" cy="6350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17" name="Text 14"/>
          <p:cNvSpPr/>
          <p:nvPr/>
        </p:nvSpPr>
        <p:spPr>
          <a:xfrm>
            <a:off x="8128000" y="26035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763000" y="2603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优先启用 simulcast/SVC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：SFU 以"订阅不同层"适配各接收端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28000" y="3365500"/>
            <a:ext cx="7366000" cy="635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20" name="Shape 17"/>
          <p:cNvSpPr/>
          <p:nvPr/>
        </p:nvSpPr>
        <p:spPr>
          <a:xfrm>
            <a:off x="8128000" y="3365500"/>
            <a:ext cx="508000" cy="6350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21" name="Text 18"/>
          <p:cNvSpPr/>
          <p:nvPr/>
        </p:nvSpPr>
        <p:spPr>
          <a:xfrm>
            <a:off x="8128000" y="33655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763000" y="3365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音频最高优先级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：极差网络下先保语音、后降视频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128000" y="4127500"/>
            <a:ext cx="7366000" cy="635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24" name="Shape 21"/>
          <p:cNvSpPr/>
          <p:nvPr/>
        </p:nvSpPr>
        <p:spPr>
          <a:xfrm>
            <a:off x="8128000" y="4127500"/>
            <a:ext cx="508000" cy="6350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25" name="Text 22"/>
          <p:cNvSpPr/>
          <p:nvPr/>
        </p:nvSpPr>
        <p:spPr>
          <a:xfrm>
            <a:off x="8128000" y="41275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763000" y="4127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建立时延单独优化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：Trickle ICE、预热 TURN、边采集边建连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128000" y="4889500"/>
            <a:ext cx="7366000" cy="635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28" name="Shape 25"/>
          <p:cNvSpPr/>
          <p:nvPr/>
        </p:nvSpPr>
        <p:spPr>
          <a:xfrm>
            <a:off x="8128000" y="4889500"/>
            <a:ext cx="508000" cy="6350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29" name="Text 26"/>
          <p:cNvSpPr/>
          <p:nvPr/>
        </p:nvSpPr>
        <p:spPr>
          <a:xfrm>
            <a:off x="8128000" y="48895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763000" y="4889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端到端观测闭环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：浏览器 getStats() 与服务端 SFU 指标打通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128000" y="5715000"/>
            <a:ext cx="736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带宽估计核心原则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：不是"追求最高码率"，而是在低时延前提下稳定逼近可用带宽。RFC 8836 强调交互式实时媒体的拥塞控制要求与大文件传输根本不同。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参考：RFC 8836, RFC 8888, RFC 7874, Chrome/Meta AV1 工程说明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RTC 实时通信核心技术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0" y="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安全隐私与部署观测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安全隐私与部署观测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2000" y="1397000"/>
            <a:ext cx="457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安全机制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1803400"/>
            <a:ext cx="4572000" cy="0"/>
          </a:xfrm>
          <a:prstGeom prst="straightConnector1">
            <a:avLst/>
          </a:prstGeom>
          <a:noFill/>
          <a:ln w="25400">
            <a:solidFill>
              <a:srgbClr val="C4703A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762000" y="1968500"/>
            <a:ext cx="457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SRTP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提供机密性、消息认证和重放保护，是媒体传输的安全基线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DTLS-SRTP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SDP 中的 fingerprint 绑定 DTLS 身份，完成安全上下文建立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SFrame（RFC 9605）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端到端加密：SFU 能看转发元数据，但看不到明文媒体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隐私防护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地址暴露（RFC 8828）、设备指纹面、权限提示设计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42000" y="1397000"/>
            <a:ext cx="457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部署模式演进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2000" y="1803400"/>
            <a:ext cx="4572000" cy="0"/>
          </a:xfrm>
          <a:prstGeom prst="straightConnector1">
            <a:avLst/>
          </a:prstGeom>
          <a:noFill/>
          <a:ln w="25400">
            <a:solidFill>
              <a:srgbClr val="C4703A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842000" y="1968500"/>
            <a:ext cx="457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自建单区域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架构简单、成本可控；适合内网、教学 PoC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托管云 RTC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上线快，TURN/SFU/监控/鉴权齐全；适合中小团队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边缘分布式 SFU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用户就近接入，利于全球低时延；调度更复杂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混合式架构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控制面集中 + 媒体面边缘；录制/AI/分析可集中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22000" y="1397000"/>
            <a:ext cx="457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可观测性指标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1803400"/>
            <a:ext cx="4572000" cy="0"/>
          </a:xfrm>
          <a:prstGeom prst="straightConnector1">
            <a:avLst/>
          </a:prstGeom>
          <a:noFill/>
          <a:ln w="25400">
            <a:solidFill>
              <a:srgbClr val="C4703A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22000" y="1968500"/>
            <a:ext cx="457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连接质量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RTT、丢包率、ICE 失败率、TURN 回退率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媒体质量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帧率、码率、jitter、jitterBufferDelay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音频质量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concealment 事件、音频 RTT、PLI/NACK 速率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业务指标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建连耗时、重连成功率、会话留存、主观评分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128000"/>
            <a:ext cx="14732000" cy="508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8128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核心原则：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现代 RTC 安全已不是"要不要加密"，而是"在哪一层加、谁能看到什么、加密后还能保留哪些服务端能力"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参考：RFC 8827, RFC 8828, RFC 9605 (SFrame), W3C WebRTC Stats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RTC 实时通信核心技术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0" y="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行业演进与研究前沿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711200"/>
            <a:ext cx="50800" cy="4064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行业演进与研究前沿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2000" y="139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标准与产业演进时间线（2021-2026）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032000"/>
            <a:ext cx="14732000" cy="0"/>
          </a:xfrm>
          <a:prstGeom prst="straightConnector1">
            <a:avLst/>
          </a:prstGeom>
          <a:noFill/>
          <a:ln w="38100">
            <a:solidFill>
              <a:srgbClr val="6B7B9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968500" y="1930400"/>
            <a:ext cx="203200" cy="2032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10" name="Text 8"/>
          <p:cNvSpPr/>
          <p:nvPr/>
        </p:nvSpPr>
        <p:spPr>
          <a:xfrm>
            <a:off x="1397000" y="2222500"/>
            <a:ext cx="13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2540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RFC 8834-8838 成形，WebRTC 媒体/传输/拥塞控制体系基本定型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24500" y="1930400"/>
            <a:ext cx="203200" cy="203200"/>
          </a:xfrm>
          <a:prstGeom prst="ellipse">
            <a:avLst/>
          </a:prstGeom>
          <a:solidFill>
            <a:srgbClr val="C4703A"/>
          </a:solidFill>
          <a:ln/>
        </p:spPr>
      </p:sp>
      <p:sp>
        <p:nvSpPr>
          <p:cNvPr id="13" name="Text 11"/>
          <p:cNvSpPr/>
          <p:nvPr/>
        </p:nvSpPr>
        <p:spPr>
          <a:xfrm>
            <a:off x="4953000" y="2222500"/>
            <a:ext cx="13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540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RFC 9429 更新 JSEP；RFC 9605 SFrame 发布；W3C SVC 推进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80500" y="1930400"/>
            <a:ext cx="203200" cy="2032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8509000" y="2222500"/>
            <a:ext cx="13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0" y="2540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VP9 RTP 载荷格式发布；RFC 9725 WHIP 正式化；SIGCOMM 关注大规模直播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636500" y="1930400"/>
            <a:ext cx="203200" cy="203200"/>
          </a:xfrm>
          <a:prstGeom prst="ellipse">
            <a:avLst/>
          </a:prstGeom>
          <a:solidFill>
            <a:srgbClr val="C4703A"/>
          </a:solidFill>
          <a:ln/>
        </p:spPr>
      </p:sp>
      <p:sp>
        <p:nvSpPr>
          <p:cNvPr id="19" name="Text 17"/>
          <p:cNvSpPr/>
          <p:nvPr/>
        </p:nvSpPr>
        <p:spPr>
          <a:xfrm>
            <a:off x="12065000" y="2222500"/>
            <a:ext cx="13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684000" y="2540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WHEP 草案推进；WebTransport 发展；AI RTC 与体积视频兴起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3683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五大研究前沿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4089400"/>
            <a:ext cx="14732000" cy="0"/>
          </a:xfrm>
          <a:prstGeom prst="straightConnector1">
            <a:avLst/>
          </a:prstGeom>
          <a:noFill/>
          <a:ln w="12700">
            <a:solidFill>
              <a:srgbClr val="6B7B9E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762000" y="4318000"/>
            <a:ext cx="2794000" cy="1778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44450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大规模低时延直播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SIGCOMM 2025 已将 WebRTC 推向更大规模分发场景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10000" y="4318000"/>
            <a:ext cx="2794000" cy="1778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26" name="Text 24"/>
          <p:cNvSpPr/>
          <p:nvPr/>
        </p:nvSpPr>
        <p:spPr>
          <a:xfrm>
            <a:off x="4000500" y="44450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导向 RTC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HotNets 2025 将"人与 AI 实时视频通信"视为新范式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0" y="4318000"/>
            <a:ext cx="2794000" cy="1778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28" name="Text 26"/>
          <p:cNvSpPr/>
          <p:nvPr/>
        </p:nvSpPr>
        <p:spPr>
          <a:xfrm>
            <a:off x="7048500" y="44450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体积视频与 XR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WebRTC+SFU 的体积视频会议评估，二维向更重媒体扩展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06000" y="4318000"/>
            <a:ext cx="2794000" cy="1778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30" name="Text 28"/>
          <p:cNvSpPr/>
          <p:nvPr/>
        </p:nvSpPr>
        <p:spPr>
          <a:xfrm>
            <a:off x="10096500" y="44450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接收端超分增强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VSR-Bench 将"带宽节省"与"接收端视觉增强"联系起来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954000" y="4318000"/>
            <a:ext cx="2540000" cy="1778000"/>
          </a:xfrm>
          <a:prstGeom prst="rect">
            <a:avLst/>
          </a:prstGeom>
          <a:solidFill>
            <a:srgbClr val="EDEAE4"/>
          </a:solidFill>
          <a:ln/>
        </p:spPr>
      </p:sp>
      <p:sp>
        <p:nvSpPr>
          <p:cNvPr id="32" name="Text 30"/>
          <p:cNvSpPr/>
          <p:nvPr/>
        </p:nvSpPr>
        <p:spPr>
          <a:xfrm>
            <a:off x="13144500" y="4445000"/>
            <a:ext cx="215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卫星网络鲁棒性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传统 WebRTC pacing 在高时延、高不稳定链路下暴露问题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6350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生态格局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6794500"/>
            <a:ext cx="711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商业托管：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Agora SDRTN（200+ 国家）、Twilio 云端 SFU、LiveKit 开源+托管双模式、Cloudflare Realtime（分布式 SFU/RTC CDN）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28000" y="6794500"/>
            <a:ext cx="736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开源自建：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Jitsi Videobridge（视频桥）、mediasoup（模块化 SFU）、Janus（通用网关）、Pion（Go 协议栈）、SRS（多协议媒体服务器）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参考：IETF/W3C 标准文档，SIGCOMM/HotNets 2025 论文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000" y="1524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课程总结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858000" y="2349500"/>
            <a:ext cx="2540000" cy="38100"/>
          </a:xfrm>
          <a:prstGeom prst="rect">
            <a:avLst/>
          </a:prstGeom>
          <a:solidFill>
            <a:srgbClr val="C4703A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667000"/>
            <a:ext cx="1320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EDEA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RTC 的核心难点已从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EDEA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"协议互通"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EDEA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转向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"跨网络条件下的实时多目标优化"</a:t>
            </a:r>
            <a:endParaRPr lang="en-US" sz="1600" dirty="0"/>
          </a:p>
          <a:p>
            <a:pPr algn="ctr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EDEA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低时延 · 画质稳定 · 带宽公平 · 终端功耗 · 安全隐私 · 全球部署成本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" y="5080000"/>
            <a:ext cx="132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C470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课后思考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5651500"/>
            <a:ext cx="1168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在 AI 实时视频通信的新范式下，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传统拥塞控制与码率分配策略是否需要重写？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18000" y="736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7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基于《RTC 实时通信核心技术、体系设计与行业演进分析报告》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RTC 实时通信核心技术</dc:title>
  <dc:subject>RTC 实时通信核心技术</dc:subject>
  <dc:creator>Kimi</dc:creator>
  <cp:lastModifiedBy>Kimi</cp:lastModifiedBy>
  <cp:revision>1</cp:revision>
  <dcterms:created xsi:type="dcterms:W3CDTF">2026-04-26T12:44:53Z</dcterms:created>
  <dcterms:modified xsi:type="dcterms:W3CDTF">2026-04-26T12:44:53Z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{"Label":"RTC 实时通信核心技术","ContentProducer":"001191110108MACG2KBH8F10000","ProduceID":"19dc8ab2-2722-8dfd-8000-0000707de185","ReservedCode1":"","ContentPropagator":"001191110108MACG2KBH8F20000","PropagateID":"19dc8ab2-2722-8dfd-8000-0000707de185","ReservedCode2":""}</vt:lpwstr>
  </property>
</Properties>
</file>